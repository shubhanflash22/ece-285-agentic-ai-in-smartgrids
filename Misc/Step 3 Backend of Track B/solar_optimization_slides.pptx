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68" r:id="rId6"/>
    <p:sldId id="272" r:id="rId7"/>
    <p:sldId id="273" r:id="rId8"/>
    <p:sldId id="274" r:id="rId9"/>
    <p:sldId id="271" r:id="rId10"/>
    <p:sldId id="269" r:id="rId11"/>
    <p:sldId id="270" r:id="rId12"/>
    <p:sldId id="258" r:id="rId13"/>
    <p:sldId id="259" r:id="rId1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Roboto Mono" panose="00000009000000000000" pitchFamily="49" charset="0"/>
      <p:regular r:id="rId24"/>
      <p:bold r:id="rId25"/>
      <p:italic r:id="rId26"/>
      <p:boldItalic r:id="rId27"/>
    </p:embeddedFont>
    <p:embeddedFont>
      <p:font typeface="Source Sans 3" panose="020B0604020202020204" charset="0"/>
      <p:regular r:id="rId28"/>
      <p:bold r:id="rId29"/>
      <p:italic r:id="rId30"/>
      <p:boldItalic r:id="rId31"/>
    </p:embeddedFont>
    <p:embeddedFont>
      <p:font typeface="Wingdings 3" panose="05040102010807070707" pitchFamily="18" charset="2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ubhan Mital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56d3cd6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56d3cd614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56d3cd61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56d3cd614_0_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56d3cd61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56d3cd614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2391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2200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503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15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8346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76268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5393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19973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5264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7208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59237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62803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355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17144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21312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23250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0592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794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301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6985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4747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Residential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MILP-Driven Solar &amp; Storage Sizing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2834640" cy="5486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43K+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862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47288"/>
            <a:ext cx="2834640" cy="5486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447288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61K+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105656"/>
            <a:ext cx="2834640" cy="54864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4105656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1513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8,760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178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Modeled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03320" y="320040"/>
            <a:ext cx="2514600" cy="2011680"/>
          </a:xfrm>
          <a:prstGeom prst="rect">
            <a:avLst/>
          </a:prstGeom>
          <a:solidFill>
            <a:srgbClr val="1A335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03320" y="320040"/>
            <a:ext cx="2514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0" y="429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Ingestion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8229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 irradiance via Open-Meteo API. Builds localized 8760-hr load profiles from 5-year EIA data with 9 geographic variability factors. Applies SDG&amp;E TOU tariff schedules.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20040"/>
            <a:ext cx="2514600" cy="2011680"/>
          </a:xfrm>
          <a:prstGeom prst="rect">
            <a:avLst/>
          </a:prstGeom>
          <a:solidFill>
            <a:srgbClr val="1A335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320040"/>
            <a:ext cx="2514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37960" y="429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Hardware Catalogs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8229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2025 equipment catalog (REC, Maxeon, Tesla, Enphase). Auto-selects panels &amp; batteries to maximize efficiency-to-cost ratio ($/Wp or $/kWh).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03320" y="2606040"/>
            <a:ext cx="2514600" cy="2011680"/>
          </a:xfrm>
          <a:prstGeom prst="rect">
            <a:avLst/>
          </a:prstGeom>
          <a:solidFill>
            <a:srgbClr val="1A335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03320" y="2606040"/>
            <a:ext cx="2514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0" y="2715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Roof Geometry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1089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user-defined roof dimensions to exact panel fit. Tests portrait &amp; landscape orientations to maximize utilization while optimizing string wiring for 400V inverter limits.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2606040"/>
            <a:ext cx="2514600" cy="2011680"/>
          </a:xfrm>
          <a:prstGeom prst="rect">
            <a:avLst/>
          </a:prstGeom>
          <a:solidFill>
            <a:srgbClr val="1A335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0" y="2606040"/>
            <a:ext cx="2514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37960" y="2715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MILP Optimization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310896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scipy.optimize.milp (HiGHS solver) to simultaneously optimize discrete panel count + continuous battery capacity alongside full 8760-hr dispatch in a single pass.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4882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Engine &amp; Financial Output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Solver · Dual-Scenario A/B Testing · 10-Year NPV Engine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4023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LOGIC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74904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6093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Total Cost of Ownership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1856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(Amortized Net CAPEX) + (Grid Import Costs) − (NEM 3.0 Export Credits)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Physical Constraints: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Balance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898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= PV + Discharge + Import − Charge − Export (every hour)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26440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493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DoD floor · 50% cap/hr charge limit · 97.5% round-trip efficiency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Limits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087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user budget cap and physical roof area constraints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109728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OUTPUT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Dual-Scenario Comparison: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883664"/>
            <a:ext cx="178308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19385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Only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176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1 yr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2368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NPV: $17,791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5603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$507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49440" y="1883664"/>
            <a:ext cx="178308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0880" y="19385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+ Battery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2176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4 yr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2368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NPV: $9,250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0" y="25603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$13,157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Financial Engine: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341985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0640" y="3364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Federal ITC applied to net CAPEX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37760" y="36667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20640" y="36118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annual utility inflation rate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39136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20640" y="3858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discount rate for NPV calculation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41605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120640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0.5%/yr panel degradation factor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37760" y="44074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120640" y="4352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Year-10 inverter replacement reserve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0040" y="4882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Optimization tool</a:t>
            </a: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body" idx="1"/>
          </p:nvPr>
        </p:nvSpPr>
        <p:spPr>
          <a:xfrm>
            <a:off x="457200" y="1059625"/>
            <a:ext cx="8512800" cy="36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comprehensive Python-based tool that automates the sizing, physical layout, and dispatch scheduling of residential solar and storage systems using a Mixed-Integer Linear Programming (MILP) engine.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Capabilities: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Data Ingestion: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Automatically fetches historical irradiance (Open-Meteo API), builds localized 8760-hour load profiles (using downscaled 5-year EIA data with 9 geographic/demographic variability factors), and applies real SDG&amp;E Time-of-Use (TOU) tariffs.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Hardware Catalogs: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Features a built-in 2025 equipment catalog (e.g., REC, Maxeon, Tesla, Enphase). The system automatically selects panels and batteries to maximize the efficiency-to-cost ratio ($/Wp or $/kWh).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Roof Geometry ("Tetris" Math):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Maps user-defined roof dimensions to calculate exact physical fit. It tests both portrait and landscape orientations to maximize roof area utilization while optimizing electrical string wiring for 400V inverter limits.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Joint 8760-Hour MILP Optimization: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Utilizes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scipy.optimize.milp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(HiGHS solver) to simultaneously optimize capital sizing (discrete panel count, continuous battery capacity) alongside a full 8760-hour dispatch schedule in a single pass—avoiding the flaws of "simulate-after-sizing" heuristics.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018"/>
              <a:buNone/>
            </a:pP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Optimization tool continued</a:t>
            </a:r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457200" y="1059625"/>
            <a:ext cx="8512800" cy="36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Optimization Logic: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MILP solver evaluates over 43,000 variables and 61,000 constraints to minimize the annualized Total Cost of Ownership.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 Function: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Minimizes (Amortized Net CAPEX) + (Grid Import Costs) – (NEM 3.0 Export Credits).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Strict Physical Constraints: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lang="en-US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Balance: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$Load = PV_{gen} + Discharge + Import - Charge - Export$ (enforced every hour).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US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Battery Health limits: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Enforces a 10% Depth-of-Discharge (DoD) floor, limits charge/discharge to 50% of capacity per hour, and accounts for round-trip efficiency losses ($\eta = 97.5\%$).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US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Capital Limits: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the selected hardware respects the user's maximum budget and roof area.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 Output &amp; Dual-Scenario Comparison: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A/B Testing: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orchestrator runs the solver twice to directly compare a </a:t>
            </a: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"PV-Only"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architecture against a </a:t>
            </a: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"PV + Battery"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architecture.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10-Year Financial Engine: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Computes exact Payback Period and Net Present Value (NPV) by factoring in the 30% Federal ITC, 6% annual utility inflation, 7% discount rate, annual panel degradation ($0.5\%/yr$), and a Year-10 inverter replacement reserve.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Actionable Output: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Returns a highly detailed configuration dictionary containing cell-level specs, exact string configurations, required battery units, and a year-by-year cash flow breakdown.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1300"/>
              </a:spcBef>
              <a:spcAft>
                <a:spcPts val="0"/>
              </a:spcAft>
              <a:buSzPts val="1018"/>
              <a:buNone/>
            </a:pP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Optimization tool continued</a:t>
            </a:r>
            <a:endParaRPr/>
          </a:p>
        </p:txBody>
      </p:sp>
      <p:sp>
        <p:nvSpPr>
          <p:cNvPr id="203" name="Google Shape;203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04" name="Google Shape;2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55" y="892511"/>
            <a:ext cx="6928282" cy="3779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2743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Residential Energy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" y="822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Optimizer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56032" y="14813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MILP Framework for Solar + Storage Sizing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920240"/>
            <a:ext cx="4937760" cy="0"/>
          </a:xfrm>
          <a:prstGeom prst="line">
            <a:avLst/>
          </a:prstGeom>
          <a:noFill/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20299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Python tool that automates the sizing, physical layout, and dispatch scheduling of residential solar+storage systems using a joint Mixed-Integer Linear Program — solving capital sizing and 8760-hour dispatch in a single pass.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502920"/>
            <a:ext cx="28803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0" y="502920"/>
            <a:ext cx="2880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08192" y="6400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43,803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08192" y="1179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Variables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984248"/>
            <a:ext cx="28803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1984248"/>
            <a:ext cx="2880360" cy="6400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8192" y="21214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8,760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08192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Modeled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465576"/>
            <a:ext cx="28803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3465576"/>
            <a:ext cx="28803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08192" y="36027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runs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08192" y="4142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PV-Only vs PV+Bat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200400"/>
            <a:ext cx="20116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200400"/>
            <a:ext cx="20116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Ingestion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32304" y="3200400"/>
            <a:ext cx="20116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32304" y="3200400"/>
            <a:ext cx="201168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23744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Geometry ('Tetris')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4050792"/>
            <a:ext cx="20116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4050792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MILP Optimization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32304" y="4064508"/>
            <a:ext cx="2011680" cy="5029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432304" y="4064508"/>
            <a:ext cx="20116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23744" y="41742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Financial Engine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B1A30"/>
          </a:solidFill>
          <a:ln w="12700">
            <a:solidFill>
              <a:srgbClr val="0B1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  |  Slide 1 of 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Inputs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· External APIs · Hardware Catalogs · Tariff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697480" cy="14173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6974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03020" y="14721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32.7157°N, 117.1611°W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6824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03020" y="16733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8836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Dims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03020" y="18745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m × 5.0 m (15 m²)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0848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Plan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03020" y="20756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TOU_DR (SDG&amp;E)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03020" y="22768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 kWh/yr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487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03020" y="24780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LOAD PROFILE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2697480" cy="14173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200400"/>
            <a:ext cx="26974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3101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17320" y="33284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5-yr average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5112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35295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to 2025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37124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Total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17320" y="3730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 kWh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39136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Power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17320" y="3931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2.055 kW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41148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Factors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417320" y="4133088"/>
            <a:ext cx="1618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geographic / demographic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4315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17320" y="43342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1,040,149 SDG&amp;E meters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46120" y="1078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IRRADIANCE API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1371600"/>
            <a:ext cx="2697480" cy="14173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46120" y="137160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83280" y="1481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GHI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36008" y="1481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1,924.6 kWh/m²/yr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16824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36008" y="16824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8,760 hourly values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83280" y="18836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Irr.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36008" y="18836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W/m² (STC)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83280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36008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daylight shape factor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83280" y="22860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36008" y="22860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32.7157°N, 117.1611°W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83280" y="24871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Adj.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36008" y="24871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−0.29%/°C (cell coeff.)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46120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SDG&amp;E TARIFF SCHEDULE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46120" y="3200400"/>
            <a:ext cx="2697480" cy="14173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246120" y="320040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83280" y="33101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90288" y="33101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TOU_DR, TOU-DR1, TOU-DR2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383280" y="35112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90288" y="35112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$0.4951 / kWh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383280" y="37124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90288" y="37124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2021–2025 historical CSV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83280" y="3913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Credit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90288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3.0 (net billing)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83280" y="41148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90288" y="4114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PM – 9 PM on-peak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383280" y="4315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90288" y="43159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off-peak overnight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7220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CATALOG  (2025 EnergySage)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72200" y="1371600"/>
            <a:ext cx="2651760" cy="21031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172200" y="137160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91072" y="14447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543800" y="1444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010144" y="14447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$/Wp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199632" y="1627632"/>
            <a:ext cx="2596896" cy="21031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291072" y="16459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Solar TOPHiKu7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543800" y="1645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010144" y="1645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$0.16/Wp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91072" y="18653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Aiko Solar Neostar 2P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543800" y="1865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010144" y="18653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$0.55/Wp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291072" y="2084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Maxeon 7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543800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010144" y="2084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$3.50/Wp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291072" y="23042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Jinko Tiger Neo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543800" y="23042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010144" y="2304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$0.45/Wp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291072" y="25237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Alpha Pure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543800" y="25237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010144" y="25237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$0.83/Wp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291072" y="27432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 Hi-MO 6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543800" y="2743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010144" y="2743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$0.30/Wp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291072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Silfab Prime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543800" y="3182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010144" y="3182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$0.53/Wp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199632" y="3474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Selected by optimizer (best efficiency/cost ratio)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217920" y="2971963"/>
            <a:ext cx="14491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CATALOG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172200" y="3200400"/>
            <a:ext cx="2651760" cy="141732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172200" y="320040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291072" y="32918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543800" y="3291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8065008" y="3291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199632" y="3474720"/>
            <a:ext cx="2596896" cy="210312"/>
          </a:xfrm>
          <a:prstGeom prst="rect">
            <a:avLst/>
          </a:prstGeom>
          <a:solidFill>
            <a:srgbClr val="1A1A3A"/>
          </a:solidFill>
          <a:ln w="12700">
            <a:solidFill>
              <a:srgbClr val="1A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291072" y="34930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 PWRcell M6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543800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kWh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065008" y="3493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291072" y="37124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Powerwall 3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7543800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 kWh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8065008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6291072" y="39319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Enphase IQ10T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7543800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kWh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065008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6291072" y="41513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WH10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7543800" y="4151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kWh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8065008" y="4151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6291072" y="4370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SolarEdge H10K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543800" y="43708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 kWh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8065008" y="43708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  |  Slide 2 of 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Pipeline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Geometry  ·  Panel Selection  ·  MILP Formulation  ·  HiGHS Solver  ·  Constraints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10241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ROOF GEOMETRY  ("TETRIS")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316736"/>
            <a:ext cx="2697480" cy="33832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6032" y="1316736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444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Input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545287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m × 5.0 m = 15.0 m² usable area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18379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Test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2039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BOTH portrait and landscape for every panel model to maximize roof utilization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241353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Footprint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61469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Solar TOPHiKu7: 3.11 m² per panel (1.722 m × 1.134 m × 2 parallel cells)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0624" y="296489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Result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316606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Landscape: 2 cols × 2 rows = 4 panels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Utilization: 100.0% (12.44 / 15.0 m²)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" y="3520343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Wiring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0624" y="3721511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 × 1P strings → 163.2 V DC bus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toward 400 V inverter target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1597" y="407015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Capacity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1597" y="427131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720 W = 2.88 kW DC array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current: 17.67 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82112" y="10241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MILP FORMULATION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82112" y="1325880"/>
            <a:ext cx="2697480" cy="33832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82112" y="1316736"/>
            <a:ext cx="2697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46704" y="1444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Layout (5T+3 total)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6704" y="1526562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0: Panels (integer)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1: BatCap kWh (continuous)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2..T+1: Import(t) per hour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T+2..2T+1: Export(t)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2T+2..3T+1: Charge(t)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3T+2..4T+1: Discharge(t)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4T+2..5T+2: SOC(t)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46704" y="278843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(T = 8,760 hours)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46704" y="298960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43,803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61,325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NNZ: 166,449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357024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6704" y="3771414"/>
            <a:ext cx="23774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(Amortized Net CAPEX)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Σ price(t)·Import(t)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Σ export_credit(t)·Export(t)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08192" y="1024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CONSTRAINTS + SOLVER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08192" y="1316736"/>
            <a:ext cx="2743200" cy="33832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08192" y="1316736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36208" y="1426464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45936" y="1444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Balance (every hour)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45936" y="1524713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Load(t) = PV(t) + Discharge(t) + Import(t)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− Charge(t) − Export(t)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36208" y="1927293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45936" y="1945581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45936" y="22082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floor: 10% DoD minimum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charge/discharge: 50% cap/hr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efficiency: η = 96.5%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continuity: SOC(t+1) = SOC(t)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Charge(t)·η − Discharge(t)/η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36208" y="2747772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45936" y="27660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Limits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45936" y="2908181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≤ max_panels_fitting_roof (4)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CAPEX ≤ user_budget ($50K)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BatCap ≥ 0 (relaxed to continuous)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36208" y="3368494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45936" y="338678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 Solver (dual run)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45936" y="35378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— PV Only:       11.58 s → Optimal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— PV + Battery:  11.22 s → Optimal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scipy.optimize.milp (HiGHS)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36208" y="4005072"/>
            <a:ext cx="45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45936" y="4023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Generation Model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45936" y="41650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PV(t) = N·P_panel·(G(t)/G_ref)·PR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 Ratio PR = 0.80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Degradation: 0.4%/yr (TOPHiKu7)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  |  Slide 3 of 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Financial Output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Config  ·  PV-Only vs PV+Battery  ·  10-Year Cash Flow  ·  NPV / Payback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10058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HARDWARE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2057400" cy="182880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2057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325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CELL / PANEL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52704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88720" y="152704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Solar TOPHiKu7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P_max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88720" y="1700784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5.4545 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187452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V_mp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88720" y="187452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0.6182 V  |  I_mp 8.82 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204825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V_oc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88720" y="2048256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0.7379 V  |  I_sc 9.345 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7472" y="222199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88720" y="2221992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" y="239572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Coeff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88720" y="2395728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−0.29 %/°C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7472" y="256946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Cost/cell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88720" y="2569464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$0.8727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274320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Power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88720" y="274320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W  (66S × 2P cells)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291693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Area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88720" y="2916936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 m²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441448" y="1261872"/>
            <a:ext cx="2057400" cy="182880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441448" y="1261872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32888" y="13258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CONFIGURATION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32888" y="152704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65576" y="152704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32888" y="175564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65576" y="170078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cols × 2 rows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32888" y="187452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465576" y="1874520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panels (roof limited)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532888" y="204825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Config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465576" y="2048256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 × 1P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32888" y="222199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Voltage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65576" y="222199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163.2 V DC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532888" y="23957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Current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465576" y="239572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17.67 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532888" y="256946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Capacity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65576" y="256946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 kW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532888" y="274320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Used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65576" y="2743200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12.44 m² (100%)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532888" y="291693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465576" y="2916936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 PWRcell M6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54880" y="10058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COMPARISON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1261872"/>
            <a:ext cx="2011680" cy="1997964"/>
          </a:xfrm>
          <a:prstGeom prst="rect">
            <a:avLst/>
          </a:prstGeom>
          <a:solidFill>
            <a:srgbClr val="061C10"/>
          </a:solidFill>
          <a:ln w="12700">
            <a:solidFill>
              <a:srgbClr val="0D4A2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54880" y="1261872"/>
            <a:ext cx="20116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4632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ONLY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6320" y="1518779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779008" y="1518779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(2.88 kW DC)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846320" y="1687943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779008" y="1687943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46320" y="1857107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Gross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779008" y="1857107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$506.88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846320" y="2026271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(after 30% ITC)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779008" y="2026271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$354.82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846320" y="2195435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779008" y="2195435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$2,155 / yr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846320" y="2364599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Import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779008" y="2364599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13,643.7 kWh/yr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846320" y="2533763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Export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779008" y="2533763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 kWh/yr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846320" y="2702927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779008" y="2702927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$6,868.94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846320" y="2872091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779008" y="2872091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846320" y="3041255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NPV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779008" y="3041255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$17,791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949440" y="1261872"/>
            <a:ext cx="2011680" cy="1997964"/>
          </a:xfrm>
          <a:prstGeom prst="rect">
            <a:avLst/>
          </a:prstGeom>
          <a:solidFill>
            <a:srgbClr val="0A0A20"/>
          </a:solidFill>
          <a:ln w="12700">
            <a:solidFill>
              <a:srgbClr val="1A1A5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949440" y="1261872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04088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+ BATTERY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040880" y="152704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065008" y="152704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(2.88 kW DC)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040880" y="169621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065008" y="169621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 PWRcell M6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040880" y="186537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Gross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065008" y="18653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$13,156.88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040880" y="203454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(after 30% ITC)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065008" y="203454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$9,209.82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040880" y="2203704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8065008" y="220370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$2,193 / yr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040880" y="237286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Import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8065008" y="237286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13,559.4 kWh/yr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040880" y="254203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Export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8065008" y="254203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kWh/yr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040880" y="271119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8065008" y="271119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$6,831.46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7040880" y="288036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8065008" y="288036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040880" y="3049524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NPV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8065008" y="3049524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$9,250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256032" y="32004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CASH FLOW BREAKDOWN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56033" y="3456432"/>
            <a:ext cx="5804300" cy="1325880"/>
          </a:xfrm>
          <a:prstGeom prst="rect">
            <a:avLst/>
          </a:prstGeom>
          <a:solidFill>
            <a:srgbClr val="132645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347472" y="34930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67512" y="34930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$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1453896" y="34930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PV-Only $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167128" y="34930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Savings $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2862072" y="34930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Cumul. $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611880" y="349300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PV+Bat $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4407408" y="3493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Savings $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5157216" y="3493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Cumul. $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74320" y="3721608"/>
            <a:ext cx="5732510" cy="91440"/>
          </a:xfrm>
          <a:prstGeom prst="rect">
            <a:avLst/>
          </a:prstGeom>
          <a:solidFill>
            <a:srgbClr val="0B1E36"/>
          </a:solidFill>
          <a:ln w="12700">
            <a:solidFill>
              <a:srgbClr val="0B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47472" y="3721608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667512" y="3721608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$9,039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1453896" y="3721608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$6,888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2167128" y="3721608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$2,150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2862072" y="3721608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$2,150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3611880" y="3721608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$6,854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407408" y="3721608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$2,184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57216" y="3721608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$2,184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347472" y="3826764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67512" y="3826764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$9,581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1453896" y="3826764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$7,304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2167128" y="3826764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$2,277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2862072" y="3826764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$4,428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3611880" y="3826764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$7,267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407408" y="3826764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$2,314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5157216" y="3826764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$4,498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274320" y="3931920"/>
            <a:ext cx="5732510" cy="91440"/>
          </a:xfrm>
          <a:prstGeom prst="rect">
            <a:avLst/>
          </a:prstGeom>
          <a:solidFill>
            <a:srgbClr val="0B1E36"/>
          </a:solidFill>
          <a:ln w="12700">
            <a:solidFill>
              <a:srgbClr val="0B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347472" y="3931920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667512" y="3931920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$10,156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1453896" y="3931920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$7,744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2167128" y="3931920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$2,411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2862072" y="3931920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$6,839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3611880" y="3931920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$7,706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4407408" y="3931920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$2,450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5157216" y="3931920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$6,948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347472" y="403707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667512" y="4037076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$10,765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1453896" y="4037076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$8,212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2167128" y="4037076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$2,553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862072" y="4037076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$9,392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3611880" y="4037076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$8,171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4407408" y="4037076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$2,594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5157216" y="4037076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$9,543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274320" y="4142232"/>
            <a:ext cx="5732510" cy="91440"/>
          </a:xfrm>
          <a:prstGeom prst="rect">
            <a:avLst/>
          </a:prstGeom>
          <a:solidFill>
            <a:srgbClr val="0B1E36"/>
          </a:solidFill>
          <a:ln w="12700">
            <a:solidFill>
              <a:srgbClr val="0B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347472" y="4142232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667512" y="4142232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$11,411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1453896" y="4142232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$8,709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167128" y="4142232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$2,702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2862072" y="4142232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$12,094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4142232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$8,664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4407408" y="414223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$2,747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5157216" y="414223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$12,289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47472" y="4247388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667512" y="4247388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$12,096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1453896" y="4247388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$9,235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2167128" y="4247388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$2,860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2862072" y="4247388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$14,955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3611880" y="4247388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$9,188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4407408" y="4247388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$2,907</a:t>
            </a:r>
            <a:endParaRPr lang="en-US" sz="700" dirty="0"/>
          </a:p>
        </p:txBody>
      </p:sp>
      <p:sp>
        <p:nvSpPr>
          <p:cNvPr id="157" name="Text 155"/>
          <p:cNvSpPr/>
          <p:nvPr/>
        </p:nvSpPr>
        <p:spPr>
          <a:xfrm>
            <a:off x="5157216" y="4247388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$15,196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274320" y="4352544"/>
            <a:ext cx="5732510" cy="91440"/>
          </a:xfrm>
          <a:prstGeom prst="rect">
            <a:avLst/>
          </a:prstGeom>
          <a:solidFill>
            <a:srgbClr val="0B1E36"/>
          </a:solidFill>
          <a:ln w="12700">
            <a:solidFill>
              <a:srgbClr val="0B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347472" y="4352544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667512" y="4352544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$12,821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1453896" y="4352544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$9,794</a:t>
            </a:r>
            <a:endParaRPr lang="en-US" sz="700" dirty="0"/>
          </a:p>
        </p:txBody>
      </p:sp>
      <p:sp>
        <p:nvSpPr>
          <p:cNvPr id="162" name="Text 160"/>
          <p:cNvSpPr/>
          <p:nvPr/>
        </p:nvSpPr>
        <p:spPr>
          <a:xfrm>
            <a:off x="2167128" y="4352544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$3,027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2862072" y="4352544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$17,982</a:t>
            </a:r>
            <a:endParaRPr lang="en-US" sz="700" dirty="0"/>
          </a:p>
        </p:txBody>
      </p:sp>
      <p:sp>
        <p:nvSpPr>
          <p:cNvPr id="164" name="Text 162"/>
          <p:cNvSpPr/>
          <p:nvPr/>
        </p:nvSpPr>
        <p:spPr>
          <a:xfrm>
            <a:off x="3611880" y="4352544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$9,744</a:t>
            </a:r>
            <a:endParaRPr lang="en-US" sz="700" dirty="0"/>
          </a:p>
        </p:txBody>
      </p:sp>
      <p:sp>
        <p:nvSpPr>
          <p:cNvPr id="165" name="Text 163"/>
          <p:cNvSpPr/>
          <p:nvPr/>
        </p:nvSpPr>
        <p:spPr>
          <a:xfrm>
            <a:off x="4407408" y="4352544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$3,077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5157216" y="4352544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$18,274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347472" y="4457700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667512" y="4457700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$13,591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1453896" y="4457700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$10,388</a:t>
            </a:r>
            <a:endParaRPr lang="en-US" sz="700" dirty="0"/>
          </a:p>
        </p:txBody>
      </p:sp>
      <p:sp>
        <p:nvSpPr>
          <p:cNvPr id="170" name="Text 168"/>
          <p:cNvSpPr/>
          <p:nvPr/>
        </p:nvSpPr>
        <p:spPr>
          <a:xfrm>
            <a:off x="2167128" y="4457700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$3,203</a:t>
            </a:r>
            <a:endParaRPr lang="en-US" sz="700" dirty="0"/>
          </a:p>
        </p:txBody>
      </p:sp>
      <p:sp>
        <p:nvSpPr>
          <p:cNvPr id="171" name="Text 169"/>
          <p:cNvSpPr/>
          <p:nvPr/>
        </p:nvSpPr>
        <p:spPr>
          <a:xfrm>
            <a:off x="2862072" y="4457700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$21,185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3611880" y="4457700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$10,334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4407408" y="4457700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$3,256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5157216" y="4457700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$21,530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74320" y="4562856"/>
            <a:ext cx="5732510" cy="91440"/>
          </a:xfrm>
          <a:prstGeom prst="rect">
            <a:avLst/>
          </a:prstGeom>
          <a:solidFill>
            <a:srgbClr val="0B1E36"/>
          </a:solidFill>
          <a:ln w="12700">
            <a:solidFill>
              <a:srgbClr val="0B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347472" y="4562856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77" name="Text 175"/>
          <p:cNvSpPr/>
          <p:nvPr/>
        </p:nvSpPr>
        <p:spPr>
          <a:xfrm>
            <a:off x="667512" y="4562856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$14,406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453896" y="4562856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$11,017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2167128" y="4562856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$3,389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862072" y="4562856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$24,573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3611880" y="4562856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$10,960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4407408" y="4562856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$3,446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5157216" y="4562856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$24,976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347472" y="4668012"/>
            <a:ext cx="320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667512" y="4668012"/>
            <a:ext cx="8046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$15,270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1453896" y="4668012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$13,685</a:t>
            </a:r>
            <a:endParaRPr lang="en-US" sz="700" dirty="0"/>
          </a:p>
        </p:txBody>
      </p:sp>
      <p:sp>
        <p:nvSpPr>
          <p:cNvPr id="187" name="Text 185"/>
          <p:cNvSpPr/>
          <p:nvPr/>
        </p:nvSpPr>
        <p:spPr>
          <a:xfrm>
            <a:off x="2167128" y="4668012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$1,585</a:t>
            </a:r>
            <a:endParaRPr lang="en-US" sz="700" dirty="0"/>
          </a:p>
        </p:txBody>
      </p:sp>
      <p:sp>
        <p:nvSpPr>
          <p:cNvPr id="188" name="Text 186"/>
          <p:cNvSpPr/>
          <p:nvPr/>
        </p:nvSpPr>
        <p:spPr>
          <a:xfrm>
            <a:off x="2862072" y="4668012"/>
            <a:ext cx="685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$26,159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3611880" y="4668012"/>
            <a:ext cx="7680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$13,625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4407408" y="466801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$1,646</a:t>
            </a:r>
            <a:endParaRPr lang="en-US" sz="700" dirty="0"/>
          </a:p>
        </p:txBody>
      </p:sp>
      <p:sp>
        <p:nvSpPr>
          <p:cNvPr id="191" name="Text 189"/>
          <p:cNvSpPr/>
          <p:nvPr/>
        </p:nvSpPr>
        <p:spPr>
          <a:xfrm>
            <a:off x="5157216" y="4668012"/>
            <a:ext cx="731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$26,621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3566160" y="3456432"/>
            <a:ext cx="0" cy="1325880"/>
          </a:xfrm>
          <a:prstGeom prst="line">
            <a:avLst/>
          </a:prstGeom>
          <a:noFill/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1"/>
          <p:cNvSpPr/>
          <p:nvPr/>
        </p:nvSpPr>
        <p:spPr>
          <a:xfrm>
            <a:off x="6313252" y="3657066"/>
            <a:ext cx="2101174" cy="8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30% Federal ITC · 6% annual utility inflation · 7% discount rate · 0.5%/yr panel degradation · Year-10 inverter replacement reserve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193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  |  Slide 4 of 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Residential Energy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Optimizer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MILP · Solar + Storage Sizing for San Diego Homes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5029200" cy="0"/>
          </a:xfrm>
          <a:prstGeom prst="line">
            <a:avLst/>
          </a:prstGeom>
          <a:noFill/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93852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Python framework that automates the sizing, physical layout, and dispatch scheduling of residential solar and battery storage systems. It uses a joint Mixed-Integer Linear Program (MILP) to optimize capital sizing and a full year of hourly energy dispatch simultaneously — avoiding the errors of simulate-after-sizing heuristics.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971800"/>
            <a:ext cx="24871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2971800"/>
            <a:ext cx="2487168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3099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Ingestion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62072" y="2971800"/>
            <a:ext cx="24871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62072" y="2971800"/>
            <a:ext cx="2487168" cy="502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71800" y="3099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Geometry ('Tetris')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3630168"/>
            <a:ext cx="24871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3630168"/>
            <a:ext cx="2487168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3758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MILP Optimization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62072" y="3630168"/>
            <a:ext cx="2487168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862072" y="3630168"/>
            <a:ext cx="2487168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71800" y="3758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Financial Engine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347472"/>
            <a:ext cx="3108960" cy="1188720"/>
          </a:xfrm>
          <a:prstGeom prst="rect">
            <a:avLst/>
          </a:prstGeom>
          <a:solidFill>
            <a:srgbClr val="0B1A2E"/>
          </a:solidFill>
          <a:ln w="12700">
            <a:solidFill>
              <a:srgbClr val="1A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60720" y="347472"/>
            <a:ext cx="3108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47548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43,803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94360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Variables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1828800"/>
            <a:ext cx="3108960" cy="1188720"/>
          </a:xfrm>
          <a:prstGeom prst="rect">
            <a:avLst/>
          </a:prstGeom>
          <a:solidFill>
            <a:srgbClr val="0B1A2E"/>
          </a:solidFill>
          <a:ln w="12700">
            <a:solidFill>
              <a:srgbClr val="1A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60720" y="1828800"/>
            <a:ext cx="3108960" cy="5486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0" y="195681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8,760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943600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Optimized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3310128"/>
            <a:ext cx="3108960" cy="1188720"/>
          </a:xfrm>
          <a:prstGeom prst="rect">
            <a:avLst/>
          </a:prstGeom>
          <a:solidFill>
            <a:srgbClr val="0B1A2E"/>
          </a:solidFill>
          <a:ln w="12700">
            <a:solidFill>
              <a:srgbClr val="1A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60720" y="3310128"/>
            <a:ext cx="31089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3438144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Runs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5943600" y="4059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PV-Only  ·  PV+Battery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28600" y="4434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Smartgrids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  |  Slide 1 of 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Inputs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14400" y="5303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optimizer needs to know — and why each input matters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1005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USER-PROVIDED INPUTS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2743200" cy="349300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2743200" cy="502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728216"/>
            <a:ext cx="2542032" cy="0"/>
          </a:xfrm>
          <a:prstGeom prst="line">
            <a:avLst/>
          </a:prstGeom>
          <a:noFill/>
          <a:ln w="635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" y="1435608"/>
            <a:ext cx="50292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1417320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57554" y="1417320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 → drives irradiance fetch &amp; load downscaling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2267712"/>
            <a:ext cx="2542032" cy="0"/>
          </a:xfrm>
          <a:prstGeom prst="line">
            <a:avLst/>
          </a:prstGeom>
          <a:noFill/>
          <a:ln w="635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" y="1975104"/>
            <a:ext cx="50292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1956816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budget_usd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57554" y="1956816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total spend → caps CAPEX in the MILP objective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807208"/>
            <a:ext cx="2542032" cy="0"/>
          </a:xfrm>
          <a:prstGeom prst="line">
            <a:avLst/>
          </a:prstGeom>
          <a:noFill/>
          <a:ln w="635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9184" y="2514600"/>
            <a:ext cx="50292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2496312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roof_width_m,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roof_length_m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57554" y="2496312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roof dims → limits how many panels physically fit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346704"/>
            <a:ext cx="2542032" cy="0"/>
          </a:xfrm>
          <a:prstGeom prst="line">
            <a:avLst/>
          </a:prstGeom>
          <a:noFill/>
          <a:ln w="635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9184" y="3054096"/>
            <a:ext cx="50292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3035808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tariff_plan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57554" y="3035808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SDG&amp;E rate schedule → sets hourly electricity prices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3886200"/>
            <a:ext cx="2542032" cy="0"/>
          </a:xfrm>
          <a:prstGeom prst="line">
            <a:avLst/>
          </a:prstGeom>
          <a:noFill/>
          <a:ln w="635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" y="3593592"/>
            <a:ext cx="50292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" y="3575304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annual_consumption_kwh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57554" y="3575304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energy use → anchors the 8760-hr load profile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4425696"/>
            <a:ext cx="2542032" cy="0"/>
          </a:xfrm>
          <a:prstGeom prst="line">
            <a:avLst/>
          </a:prstGeom>
          <a:noFill/>
          <a:ln w="635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9184" y="4133088"/>
            <a:ext cx="50292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8912" y="4114800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num_occupants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57554" y="4114800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EIA load data to match household size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73552" y="1005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73552" y="1261872"/>
            <a:ext cx="2743200" cy="157276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73552" y="1261872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01568" y="13350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Irradiance API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37560" y="1627632"/>
            <a:ext cx="50292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47288" y="1609344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GHI(t)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65930" y="1609344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Horizontal Irradiance per hour → PV generation input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37560" y="2048256"/>
            <a:ext cx="50292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47288" y="2029968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G_ref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65930" y="2029968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irradiance (STC) → normalizes panel output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37560" y="2468880"/>
            <a:ext cx="50292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47288" y="2450592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T_ambient(t)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65930" y="2450592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 per hour → applies panel temp coefficient loss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73552" y="2907792"/>
            <a:ext cx="2743200" cy="18470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273552" y="2907792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01568" y="29809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Residential Load Database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337560" y="3273552"/>
            <a:ext cx="50292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47288" y="3255264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Load(t)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465930" y="3255264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 profile → enforced as power balance constraint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337560" y="3666744"/>
            <a:ext cx="50292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47288" y="3648456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load_scale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465930" y="3648456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Occupant + geographic factor → adjusts kWh to match household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337560" y="4059936"/>
            <a:ext cx="50292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447288" y="4041648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annual_kwh_eia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465930" y="4041648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averaged baseline → rescaled to user's stated consumption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337560" y="4453128"/>
            <a:ext cx="50292" cy="2011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47288" y="4434840"/>
            <a:ext cx="97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variability_k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465930" y="4434840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9-factor weighting (coastal, inland, HVAC…) → realism of profile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263640" y="914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CATALOGS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63640" y="1261872"/>
            <a:ext cx="2651760" cy="19659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263640" y="1170432"/>
            <a:ext cx="265176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82512" y="12435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Catalog  (8 models)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27648" y="1536192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37376" y="1517904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efficiency_%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428220" y="1517904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Cell-to-area conversion → determines panels needed per m²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327648" y="1883664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437376" y="1865376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cost_per_wp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428220" y="1865376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$/Watt-peak → optimizer selects best efficiency-to-cost ratio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327648" y="2231136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437376" y="2212848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temp_coeff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428220" y="2212848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loss per °C → applied to hourly generation model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321985" y="2551176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437376" y="2560320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V_mp, I_mp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428220" y="2560320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 operating point → sizes string for 400V inverter target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327648" y="2926080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437376" y="2907792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panel_area_m²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428220" y="2907792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footprint → Tetris geometry checks roof fit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63640" y="3300984"/>
            <a:ext cx="2651760" cy="1540764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263640" y="3204972"/>
            <a:ext cx="265176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382512" y="32781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Catalog  (5 models)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27648" y="3561588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37376" y="3543300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capacity_kwh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7428220" y="3543300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energy storage → sized by MILP to minimize grid cost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327648" y="3909060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437376" y="3890772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RTE_%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7428220" y="3890772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efficiency → accounts for charge/discharge losses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327648" y="4255861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437376" y="4238244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P_charge_max,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P_discharge_max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428220" y="4238244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limits → constrain hourly charge &amp; discharge rate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327648" y="4604004"/>
            <a:ext cx="50292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437376" y="4585716"/>
            <a:ext cx="945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cost_usd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7428220" y="4585716"/>
            <a:ext cx="1392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→ added to CAPEX if battery scenario selected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  |  Slide 2 of 4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Pipeline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14400" y="5303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Geometry  ·  MILP Formulation  ·  Constraints  ·  HiGHS Solver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1024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ROOF GEOMETRY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298448"/>
            <a:ext cx="2697480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298448"/>
            <a:ext cx="26974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14264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Search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6276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portrait &amp; landscape for every panel model. Picks the orientation maximizing roof_area_utilization (%) — the ratio of panel footprint to available roof_area_m².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22219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Fit (Tetris Approach)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24231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roof_width_m and roof_length_m by the panel's physical dims to find max panels per row and max rows. Integer math — no partial panels allowed.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0624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Wiring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32186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(panels_in_series × parallel_strings) combinations. Selects config minimizing |string_voltage − inverter_target_v|, respecting total panel count.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0624" y="38130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Output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401421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total_dc_capacity_kw = N × P_panel_w. This upper-bounds PV(t) in the MILP, ensuring the optimizer never exceeds physical generation.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82112" y="1024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MILP FORMULATION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82112" y="1289304"/>
            <a:ext cx="2697480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82112" y="1298448"/>
            <a:ext cx="269748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46704" y="14264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46704" y="162763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N_panels (integer) · BatCap_kwh (continuous)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Import(t) · Export(t) · Charge(t) · Discharge(t) · SOC(t) — one value per hour 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46704" y="20939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46704" y="22951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(Net_CAPEX × annuity_factor)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Σ tariff(t) × Import(t)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Σ export_credit(t) × Export(t)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46704" y="29411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Balance (enforced every hour)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6704" y="3067141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Load(t) = PV(t) + Discharge(t) + Import(t)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− Charge(t) − Export(t)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46704" y="3434663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46704" y="3529584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SOC_floor ≤ SOC(t) ≤ SOC_max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Charge(t) ≤ P_charge_max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SOC(t+1) = SOC(t) + Charge(t)·η − Discharge(t)/η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2359" y="40279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Bounds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32359" y="411480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N_panels ≤ max_panels_fitting_roof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Total_CAPEX ≤ budget_usd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ITC applied → Net_CAPEX = Gross × 0.70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08192" y="1024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SOLVER OUTPUT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08192" y="1287499"/>
            <a:ext cx="2743200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08192" y="1298448"/>
            <a:ext cx="27432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36208" y="1453896"/>
            <a:ext cx="502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45936" y="142646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Run Design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45936" y="1636776"/>
            <a:ext cx="24963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solves PV-Only. Run 2 solves PV + Battery. Same model, same constraints — the battery capacity variable is simply unlocked in Run 2. Direct A/B comparison with identical boundary conditions.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36208" y="2309489"/>
            <a:ext cx="502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45936" y="2282057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Generation Model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45936" y="2480540"/>
            <a:ext cx="2496312" cy="4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PV(t) = N_panels × P_panel_w × (GHI(t) / G_ref) × PR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ratio PR accounts for wiring, inverter, and soiling losses. Degradation applied per year.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36208" y="3143020"/>
            <a:ext cx="502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45936" y="3115588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Simulation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45936" y="3330472"/>
            <a:ext cx="2496312" cy="49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Post-solve: replays the optimal N_panels and BatCap through hourly dispatch rules to compute exact grid_import_kwh, grid_export_kwh, and electricity bills for each scenario.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36208" y="3959352"/>
            <a:ext cx="502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45936" y="393192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Engine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45936" y="4157331"/>
            <a:ext cx="2496312" cy="569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scipy.optimize.milp → HiGHS backend.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constraint matrix (csc_matrix) keeps memory low despite the large horizon. Both runs solve to Optimal status.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  |  Slide 3 of 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1097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Outputs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14400" y="5303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returns — and what each output means for the homeowner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743200" cy="32293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0607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CONFIGURATION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" y="1371600"/>
            <a:ext cx="502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134416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selected_panel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563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 (best efficiency/cost) → confirms what gets installed on the roof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4904" y="1847088"/>
            <a:ext cx="502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" y="181965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N_panels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2039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integer count → determined by MILP to minimize cost within roof &amp; budget limits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4904" y="2322576"/>
            <a:ext cx="502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29514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2514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or landscape → layout that maximizes roof area utilization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4904" y="2798064"/>
            <a:ext cx="502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" y="27706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panels_in_series,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parallel_strings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" y="2990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wiring config → meets inverter voltage target; affects system safety &amp; warranty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" y="3273552"/>
            <a:ext cx="502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" y="324612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total_dc_capacity_kw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" y="34655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P_panel_w / 1000 → max power the array can produce at STC; used to size inverter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4904" y="3749040"/>
            <a:ext cx="502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" y="372160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roof_utilization_%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" y="39410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roof is covered → tells homeowner if more panels could fit with a larger roof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6120" y="987552"/>
            <a:ext cx="2743200" cy="32293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46120" y="987552"/>
            <a:ext cx="27432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0" y="10607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CONFIGURATION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64992" y="1371600"/>
            <a:ext cx="5029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83864" y="134416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battery_required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83864" y="15636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→ whether storage is economically justified given tariff &amp; load profile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64992" y="1847088"/>
            <a:ext cx="5029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83864" y="181965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selected_battery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83864" y="2039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 → best usable capacity per dollar from catalog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64992" y="2322576"/>
            <a:ext cx="5029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83864" y="229514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units_required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83864" y="2514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battery units → scales capacity to meet optimal BatCap_kwh from MILP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64992" y="2798064"/>
            <a:ext cx="5029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83864" y="27706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total_capacity_kwh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83864" y="2990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stored energy → covers peak-rate hours, reducing grid_import cost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64992" y="3273552"/>
            <a:ext cx="5029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83864" y="324612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P_max_charge_kw,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P_max_discharge_kw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83864" y="34655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limits → determines how fast battery can shift energy; inverter sizing input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64992" y="3749040"/>
            <a:ext cx="5029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83864" y="372160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round_trip_eff_%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83864" y="39410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retained per cycle → directly reduces net savings if low; factored into every SOC update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36208" y="987552"/>
            <a:ext cx="2679192" cy="3229300"/>
          </a:xfrm>
          <a:prstGeom prst="rect">
            <a:avLst/>
          </a:prstGeom>
          <a:solidFill>
            <a:srgbClr val="0F2040"/>
          </a:solidFill>
          <a:ln w="12700">
            <a:solidFill>
              <a:srgbClr val="1A3356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36208" y="987552"/>
            <a:ext cx="2679192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73368" y="106070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OUTPUT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55080" y="1371600"/>
            <a:ext cx="5029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73952" y="1344168"/>
            <a:ext cx="1178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gross_capex_usd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73952" y="156362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+ battery + install costs → what homeowner pays before incentives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55080" y="1847088"/>
            <a:ext cx="5029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73952" y="1819656"/>
            <a:ext cx="1178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net_capex_usd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73952" y="203911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30% Federal ITC → real out-of-pocket cost to compare scenarios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55080" y="2322576"/>
            <a:ext cx="5029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73952" y="2295144"/>
            <a:ext cx="1178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annual_savings_usd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73952" y="25146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bill minus solar bill → yearly dollar benefit; grows with inflation_rate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55080" y="2798064"/>
            <a:ext cx="5029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73952" y="2770632"/>
            <a:ext cx="1178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simple_payback_yrs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73952" y="2990088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net_capex / annual_savings → how many years until the system pays for itself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355080" y="3273552"/>
            <a:ext cx="5029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73952" y="3246120"/>
            <a:ext cx="1178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npv_usd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73952" y="346557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Present Value over 10 years at discount_rate → true economic value of the investment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355080" y="3749040"/>
            <a:ext cx="5029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73952" y="3721608"/>
            <a:ext cx="1178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ten_year_breakdown[]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73952" y="394106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Year-by-year cash flow table → shows cumulative savings and bill comparison over time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52509" y="4248856"/>
            <a:ext cx="8659368" cy="548640"/>
          </a:xfrm>
          <a:prstGeom prst="rect">
            <a:avLst/>
          </a:prstGeom>
          <a:solidFill>
            <a:srgbClr val="091628"/>
          </a:solidFill>
          <a:ln w="12700">
            <a:solidFill>
              <a:srgbClr val="1A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84048" y="42534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ASSUMPTIONS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84048" y="44256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inflation_rate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84048" y="45811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utility price growth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103120" y="44256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discount_rate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103120" y="45811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Time-value of savings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822192" y="44256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degradation_rate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822192" y="45811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panel output loss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541264" y="44256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itc_rate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541264" y="45811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solar tax credit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260336" y="44256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inverter_reserve_yr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260336" y="45811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Year-10 replacement cost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· UCSD · Residential Solar Optimization  |  Slide 4 of 4</a:t>
            </a:r>
            <a:endParaRPr lang="en-US" sz="7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3605</Words>
  <Application>Microsoft Office PowerPoint</Application>
  <PresentationFormat>On-screen Show (16:9)</PresentationFormat>
  <Paragraphs>606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Georgia</vt:lpstr>
      <vt:lpstr>Roboto Mono</vt:lpstr>
      <vt:lpstr>Source Sans 3</vt:lpstr>
      <vt:lpstr>Century Gothic</vt:lpstr>
      <vt:lpstr>Calibri</vt:lpstr>
      <vt:lpstr>Wingdings 3</vt:lpstr>
      <vt:lpstr>Arial</vt:lpstr>
      <vt:lpstr>Ion</vt:lpstr>
      <vt:lpstr>PowerPoint Presentation</vt:lpstr>
      <vt:lpstr>PowerPoint Presentation</vt:lpstr>
      <vt:lpstr>Optimization tool</vt:lpstr>
      <vt:lpstr>Optimization tool continued</vt:lpstr>
      <vt:lpstr>Optimization tool continued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Shubhan Mital</cp:lastModifiedBy>
  <cp:revision>3</cp:revision>
  <dcterms:modified xsi:type="dcterms:W3CDTF">2026-03-08T23:26:27Z</dcterms:modified>
</cp:coreProperties>
</file>